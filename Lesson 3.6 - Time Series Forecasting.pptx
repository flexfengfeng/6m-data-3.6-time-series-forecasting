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23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6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9" r:id="rId9"/>
    <p:sldId id="260" r:id="rId10"/>
    <p:sldId id="261" r:id="rId11"/>
    <p:sldId id="263" r:id="rId13"/>
    <p:sldId id="264" r:id="rId14"/>
    <p:sldId id="266" r:id="rId16"/>
    <p:sldId id="268" r:id="rId18"/>
    <p:sldId id="270" r:id="rId20"/>
    <p:sldId id="275" r:id="rId25"/>
    <p:sldId id="276" r:id="rId26"/>
    <p:sldId id="278" r:id="rId28"/>
    <p:sldId id="279" r:id="rId29"/>
    <p:sldId id="286" r:id="rId36"/>
  </p:sldIdLst>
  <p:sldSz cy="6858000" cx="12191675"/>
  <p:notesSz cx="6858000" cy="9144000"/>
  <p:embeddedFontLst>
    <p:embeddedFont>
      <p:font typeface="Open Sans Light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OpenSansLight-bold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44" Type="http://schemas.openxmlformats.org/officeDocument/2006/relationships/font" Target="fonts/OpenSans-boldItalic.fntdata"/><Relationship Id="rId4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37" Type="http://schemas.openxmlformats.org/officeDocument/2006/relationships/font" Target="fonts/OpenSansLight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39" Type="http://schemas.openxmlformats.org/officeDocument/2006/relationships/font" Target="fonts/OpenSansLight-italic.fntdata"/><Relationship Id="rId16" Type="http://schemas.openxmlformats.org/officeDocument/2006/relationships/slide" Target="slides/slide11.xml"/><Relationship Id="rId38" Type="http://schemas.openxmlformats.org/officeDocument/2006/relationships/font" Target="fonts/OpenSansLight-bold.fntdata"/><Relationship Id="rId18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ee1b79450e_0_64:notes"/>
          <p:cNvSpPr/>
          <p:nvPr>
            <p:ph idx="2" type="sldImg"/>
          </p:nvPr>
        </p:nvSpPr>
        <p:spPr>
          <a:xfrm>
            <a:off x="685873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g3ee1b79450e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1" name="Google Shape;51;g3ee1b79450e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to Lesson 6 — Time Series Forecasting. Marcus's question from L05 — 'forecast next quarter's revenue?' — is this week's brief. Three methods: STL decomposition, ETS, ML-with-lags. ~90 min slides + ~90 min hands-on.</a:t>
            </a:r>
            <a:endParaRPr/>
          </a:p>
        </p:txBody>
      </p:sp>
      <p:sp>
        <p:nvSpPr>
          <p:cNvPr id="75" name="Google Shape;7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recap. End of L05, Marcus asked about forecasting. The new question: time-ordered data. This breaks every assumption from L01-L05.</a:t>
            </a:r>
            <a:endParaRPr/>
          </a:p>
        </p:txBody>
      </p:sp>
      <p:sp>
        <p:nvSpPr>
          <p:cNvPr id="84" name="Google Shape;8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time series is the sum of three components: trend, seasonality, and residual (noise). Different components have different shapes, scales, predictability. Separating them is step 0 of forecasting.</a:t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STL — Seasonal-Trend decomposition using Loess. Robust to outliers, allows seasonal pattern to evolve slowly. Give it the data and the seasonal period; get back trend + seasonal + residual.</a:t>
            </a:r>
            <a:endParaRPr/>
          </a:p>
        </p:txBody>
      </p:sp>
      <p:sp>
        <p:nvSpPr>
          <p:cNvPr id="159" name="Google Shape;15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rule of time-series cross-validation: train always BEFORE test. TimeSeriesSplit gives 5 windows that roll forward through the data. K-fold is FORBIDDEN — it would leak future data.</a:t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classical methods you should know. Naive is the baseline floor. Seasonal Naive captures one seasonality. ETS is the pragmatic adaptive baseline that handles trend + one seasonality.</a:t>
            </a:r>
            <a:endParaRPr/>
          </a:p>
        </p:txBody>
      </p:sp>
      <p:sp>
        <p:nvSpPr>
          <p:cNvPr id="228" name="Google Shape;22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standard forecast-error metrics. MAE is intuitive. RMSE penalises large errors more. MAPE is scale-free percentage. Report at least MAE + MAPE for business communication.</a:t>
            </a:r>
            <a:endParaRPr/>
          </a:p>
        </p:txBody>
      </p:sp>
      <p:sp>
        <p:nvSpPr>
          <p:cNvPr id="276" name="Google Shape;27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modern industry default: turn the time series into a TABULAR REGRESSION PROBLEM by adding lag features. Then use gradient boosting — the same algorithm from L04.</a:t>
            </a:r>
            <a:endParaRPr/>
          </a:p>
        </p:txBody>
      </p:sp>
      <p:sp>
        <p:nvSpPr>
          <p:cNvPr id="316" name="Google Shape;31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Marcus's new question — 'predict checkout completion from sequential customer behaviour?' — is the engine of L07. Neural networks. Different mental model: end-to-end learning from raw sequences.</a:t>
            </a:r>
            <a:endParaRPr/>
          </a:p>
        </p:txBody>
      </p:sp>
      <p:sp>
        <p:nvSpPr>
          <p:cNvPr id="430" name="Google Shape;43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4" name="Google Shape;444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assignment parts. Part A: UK electricity demand (strong multi-seasonality). Part B: coffee-shop daily customers (smaller, noisier).</a:t>
            </a:r>
            <a:endParaRPr/>
          </a:p>
        </p:txBody>
      </p:sp>
      <p:sp>
        <p:nvSpPr>
          <p:cNvPr id="445" name="Google Shape;445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big lessons from this week.</a:t>
            </a:r>
            <a:endParaRPr/>
          </a:p>
        </p:txBody>
      </p:sp>
      <p:sp>
        <p:nvSpPr>
          <p:cNvPr id="494" name="Google Shape;494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comparison of all the forecasting tools we've seen.</a:t>
            </a:r>
            <a:endParaRPr/>
          </a:p>
        </p:txBody>
      </p:sp>
      <p:sp>
        <p:nvSpPr>
          <p:cNvPr id="518" name="Google Shape;518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1" name="Google Shape;751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L07 next — neural networks.</a:t>
            </a:r>
            <a:endParaRPr/>
          </a:p>
        </p:txBody>
      </p:sp>
      <p:sp>
        <p:nvSpPr>
          <p:cNvPr id="752" name="Google Shape;752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502453" y="1317233"/>
            <a:ext cx="11079600" cy="48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indent="-349250" lvl="2" marL="13716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indent="-349250" lvl="4" marL="22860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indent="-349250" lvl="5" marL="27432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/3 Content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4255500" cy="65703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69357" y="458767"/>
            <a:ext cx="3886200" cy="121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272659" y="1897800"/>
            <a:ext cx="3982800" cy="443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b="1" sz="2900">
                <a:solidFill>
                  <a:schemeClr val="lt1"/>
                </a:solidFill>
              </a:defRPr>
            </a:lvl1pPr>
            <a:lvl2pPr lvl="1">
              <a:spcBef>
                <a:spcPts val="130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130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130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130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1300"/>
              </a:spcBef>
              <a:spcAft>
                <a:spcPts val="1300"/>
              </a:spcAft>
              <a:buSzPts val="19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461081" y="550100"/>
            <a:ext cx="7383000" cy="589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2/3 Content">
  <p:cSld name="CUSTOM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4437248" y="197167"/>
            <a:ext cx="74022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8" name="Google Shape;28;p6"/>
          <p:cNvSpPr/>
          <p:nvPr>
            <p:ph idx="2" type="pic"/>
          </p:nvPr>
        </p:nvSpPr>
        <p:spPr>
          <a:xfrm>
            <a:off x="0" y="0"/>
            <a:ext cx="4084200" cy="6550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437315" y="1300800"/>
            <a:ext cx="7402200" cy="504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130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2/3 Content">
  <p:cSld name="CUSTOM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>
            <p:ph idx="2" type="pic"/>
          </p:nvPr>
        </p:nvSpPr>
        <p:spPr>
          <a:xfrm>
            <a:off x="8107384" y="0"/>
            <a:ext cx="4084200" cy="653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02053" y="1341900"/>
            <a:ext cx="7163700" cy="519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Column Content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609584" y="1167100"/>
            <a:ext cx="4803000" cy="475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6653156" y="1167100"/>
            <a:ext cx="4929000" cy="491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cxnSp>
        <p:nvCxnSpPr>
          <p:cNvPr id="38" name="Google Shape;38;p8"/>
          <p:cNvCxnSpPr/>
          <p:nvPr/>
        </p:nvCxnSpPr>
        <p:spPr>
          <a:xfrm>
            <a:off x="6095838" y="1403100"/>
            <a:ext cx="0" cy="4521300"/>
          </a:xfrm>
          <a:prstGeom prst="straightConnector1">
            <a:avLst/>
          </a:prstGeom>
          <a:noFill/>
          <a:ln cap="flat" cmpd="sng" w="12700">
            <a:solidFill>
              <a:srgbClr val="C51A4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ctrTitle"/>
          </p:nvPr>
        </p:nvSpPr>
        <p:spPr>
          <a:xfrm>
            <a:off x="914376" y="2130425"/>
            <a:ext cx="103629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1828751" y="3886200"/>
            <a:ext cx="8534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300"/>
              </a:spcBef>
              <a:spcAft>
                <a:spcPts val="130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10642679" y="6515076"/>
            <a:ext cx="93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1900" spcFirstLastPara="1" rIns="121900" wrap="square" tIns="6092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 rot="5400000">
            <a:off x="5940575" y="606904"/>
            <a:ext cx="310500" cy="121917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502453" y="1317233"/>
            <a:ext cx="11079600" cy="48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Char char="•"/>
              <a:defRPr i="0" sz="3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2750" lvl="1" marL="9144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Open Sans"/>
              <a:buChar char="–"/>
              <a:defRPr i="0" sz="2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400050" lvl="2" marL="13716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Char char="•"/>
              <a:defRPr i="0" sz="27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–"/>
              <a:defRPr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61950" lvl="4" marL="22860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Char char="»"/>
              <a:defRPr i="0" sz="2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8632103" y="6584067"/>
            <a:ext cx="355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en-US" sz="800">
                <a:solidFill>
                  <a:srgbClr val="FFFFFF"/>
                </a:solidFill>
              </a:rPr>
              <a:t>6</a:t>
            </a: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 xml:space="preserve"> Nanyang Technological University. All rights reserved. 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uilding with a balcony and trees  Description automatically generated" id="53" name="Google Shape;53;p12"/>
          <p:cNvPicPr preferRelativeResize="0"/>
          <p:nvPr/>
        </p:nvPicPr>
        <p:blipFill rotWithShape="1">
          <a:blip r:embed="rId3">
            <a:alphaModFix/>
          </a:blip>
          <a:srcRect b="0" l="0" r="33271" t="0"/>
          <a:stretch/>
        </p:blipFill>
        <p:spPr>
          <a:xfrm>
            <a:off x="6172156" y="0"/>
            <a:ext cx="6095841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/>
          <p:nvPr/>
        </p:nvSpPr>
        <p:spPr>
          <a:xfrm>
            <a:off x="6172155" y="5785658"/>
            <a:ext cx="6095700" cy="1072500"/>
          </a:xfrm>
          <a:prstGeom prst="rect">
            <a:avLst/>
          </a:prstGeom>
          <a:solidFill>
            <a:srgbClr val="181C62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0" y="5785658"/>
            <a:ext cx="6172200" cy="10725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1" y="0"/>
            <a:ext cx="457200" cy="68580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2"/>
          <p:cNvSpPr txBox="1"/>
          <p:nvPr/>
        </p:nvSpPr>
        <p:spPr>
          <a:xfrm>
            <a:off x="753947" y="2199834"/>
            <a:ext cx="48423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4000"/>
              <a:buFont typeface="Open Sans Light"/>
              <a:buNone/>
            </a:pPr>
            <a:r>
              <a:rPr lang="en-US" sz="3200">
                <a:solidFill>
                  <a:srgbClr val="181C6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(SCTP) Advanced Professional Certificate</a:t>
            </a:r>
            <a:endParaRPr sz="3200"/>
          </a:p>
        </p:txBody>
      </p:sp>
      <p:sp>
        <p:nvSpPr>
          <p:cNvPr id="58" name="Google Shape;58;p12"/>
          <p:cNvSpPr txBox="1"/>
          <p:nvPr/>
        </p:nvSpPr>
        <p:spPr>
          <a:xfrm>
            <a:off x="750001" y="3429000"/>
            <a:ext cx="51897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2000"/>
              <a:buFont typeface="Open Sans"/>
              <a:buNone/>
            </a:pPr>
            <a:r>
              <a:t/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2000"/>
              <a:buFont typeface="Open Sans"/>
              <a:buNone/>
            </a:pPr>
            <a:r>
              <a:rPr b="1" lang="en-US" sz="3200">
                <a:solidFill>
                  <a:srgbClr val="181C62"/>
                </a:solidFill>
                <a:latin typeface="Open Sans"/>
                <a:ea typeface="Open Sans"/>
                <a:cs typeface="Open Sans"/>
                <a:sym typeface="Open Sans"/>
              </a:rPr>
              <a:t>Data Science and AI</a:t>
            </a:r>
            <a:endParaRPr b="1" sz="3200">
              <a:solidFill>
                <a:srgbClr val="181C6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2"/>
          <p:cNvPicPr preferRelativeResize="0"/>
          <p:nvPr/>
        </p:nvPicPr>
        <p:blipFill rotWithShape="1">
          <a:blip r:embed="rId4">
            <a:alphaModFix/>
          </a:blip>
          <a:srcRect b="33662" l="0" r="0" t="30759"/>
          <a:stretch/>
        </p:blipFill>
        <p:spPr>
          <a:xfrm>
            <a:off x="457188" y="0"/>
            <a:ext cx="5684722" cy="13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7200"/>
              <a:buFont typeface="Open Sans"/>
              <a:buNone/>
            </a:pPr>
            <a:r>
              <a:rPr lang="en-US" sz="72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L06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48640" y="2834640"/>
            <a:ext cx="10972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Open Sans"/>
              <a:buNone/>
            </a:pPr>
            <a:r>
              <a:rPr lang="en-US" sz="7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Time Series</a:t>
            </a:r>
            <a:br>
              <a:rPr lang="en-US" sz="7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70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Forecasting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</a:pPr>
            <a:r>
              <a:rPr i="1"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Sarah's week of forecasting NorthStar revenue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Where We Left Off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L05 → L06 — from cross-sectional to time-ordered</a:t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548640" y="1737360"/>
            <a:ext cx="11064240" cy="172638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822960" y="1874519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Marcus, end of L05: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822960" y="2286000"/>
            <a:ext cx="1051560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"Sales are SEASONAL. We need to know quarterly revenue 90 days ahead so ops can plan inventory.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 you forecast?"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548640" y="3566160"/>
            <a:ext cx="110642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The fundamental shift</a:t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640080" y="4114800"/>
            <a:ext cx="548640" cy="48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📅</a:t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1188720" y="411480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Data is TIME-ORDERED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4572000" y="4114800"/>
            <a:ext cx="70408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Order matters. Today's value depends on yesterday's.</a:t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640080" y="4617720"/>
            <a:ext cx="548640" cy="48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🔮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1188720" y="461772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future hasn't happened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4572000" y="4617720"/>
            <a:ext cx="70408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Never use data from after the prediction date.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640080" y="5120640"/>
            <a:ext cx="548640" cy="48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🚫</a:t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1188720" y="512064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k-fold cross-val is FORBIDDEN</a:t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4572000" y="5120640"/>
            <a:ext cx="70408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Would leak the future into past training folds.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640080" y="5623560"/>
            <a:ext cx="548640" cy="48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📈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1188720" y="562356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New toolkit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4572000" y="5623560"/>
            <a:ext cx="70408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Decomposition, ETS, lag features — time-aware methods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Time-Series Trinity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Every series = Trend + Seasonality + Residual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548640" y="1783080"/>
            <a:ext cx="914400" cy="156453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548640" y="2148840"/>
            <a:ext cx="91440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📈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1600200" y="1783080"/>
            <a:ext cx="996696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1828800" y="1920240"/>
            <a:ext cx="96012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Trend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1828800" y="2377440"/>
            <a:ext cx="960120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Long-term direction.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Growth, decline, flat.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Smooth, slow-moving.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548640" y="3246120"/>
            <a:ext cx="914400" cy="156453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48640" y="3611880"/>
            <a:ext cx="91440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🔁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1600200" y="3246120"/>
            <a:ext cx="996696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1828800" y="3383280"/>
            <a:ext cx="96012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Seasonality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1828800" y="3840480"/>
            <a:ext cx="960120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Repeating cycles.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Annual, monthly, weekly, daily.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Predictable.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48640" y="4709160"/>
            <a:ext cx="914400" cy="15645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548640" y="5074920"/>
            <a:ext cx="91440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🎲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1600200" y="4709160"/>
            <a:ext cx="996696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1828800" y="4846320"/>
            <a:ext cx="96012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Residual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1828800" y="5303520"/>
            <a:ext cx="960120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What's left — noise + unexplained.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Should look like random fluctuation.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STL Decomposition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robust default — captures one seasonality at a time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48640" y="1737360"/>
            <a:ext cx="1106424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822960" y="1874519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The decomposition equation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22960" y="2286000"/>
            <a:ext cx="1051560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y(t) = trend(t) + seasonal(t) + residual(t)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48640" y="3200400"/>
            <a:ext cx="11064240" cy="280537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777240" y="3383280"/>
            <a:ext cx="10698480" cy="2373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from statsmodels.tsa.seasonal import STL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700">
              <a:solidFill>
                <a:srgbClr val="F4F5F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stl = STL(y, period=7, robust=True).fit()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stl.trend       # the slow-moving direction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stl.seasonal    # the 7-day repeating pattern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stl.resid       # what's left — should look like noise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48640" y="5715000"/>
            <a:ext cx="11064240" cy="75529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822960" y="585216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STL handles ONE seasonality. For multi-seasonal data, use MSTL or capture other seasonalities via lag features.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Time-Series Cross-Validation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TimeSeriesSplit — test is always LATER than train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48640" y="1828800"/>
            <a:ext cx="1106424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2C5697"/>
                </a:solidFill>
                <a:latin typeface="Consolas"/>
                <a:ea typeface="Consolas"/>
                <a:cs typeface="Consolas"/>
                <a:sym typeface="Consolas"/>
              </a:rPr>
              <a:t>TimeSeriesSplit(n_splits=5, test_size=90)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48640" y="246888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Fold 1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1554480" y="2377440"/>
            <a:ext cx="182880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554480" y="2377440"/>
            <a:ext cx="1828800" cy="485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TRAIN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3429000" y="2377440"/>
            <a:ext cx="137160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429000" y="2377440"/>
            <a:ext cx="1371600" cy="485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48640" y="297180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Fold 2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1554480" y="2880360"/>
            <a:ext cx="329184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554480" y="2880360"/>
            <a:ext cx="3291840" cy="485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TRAIN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4892040" y="2880360"/>
            <a:ext cx="137160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892040" y="2880360"/>
            <a:ext cx="1371600" cy="485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48640" y="347472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Fold 3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1554480" y="3383280"/>
            <a:ext cx="475488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554480" y="3383280"/>
            <a:ext cx="4754880" cy="485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TRAIN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6355080" y="3383280"/>
            <a:ext cx="137160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355080" y="3383280"/>
            <a:ext cx="1371600" cy="485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48640" y="397764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Fold 4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1554480" y="3886200"/>
            <a:ext cx="621792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554480" y="3886200"/>
            <a:ext cx="6217920" cy="485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TRAIN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7818120" y="3886200"/>
            <a:ext cx="137160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7818120" y="3886200"/>
            <a:ext cx="1371600" cy="485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48640" y="448056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Fold 5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1554480" y="4389120"/>
            <a:ext cx="768096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554480" y="4389120"/>
            <a:ext cx="7680960" cy="485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TRAIN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9281160" y="4389120"/>
            <a:ext cx="137160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9281160" y="4389120"/>
            <a:ext cx="1371600" cy="485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48640" y="5571462"/>
            <a:ext cx="11064300" cy="75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822960" y="5708622"/>
            <a:ext cx="1051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⚠  NEVER use random KFold on time-series data — it leaks future information.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Classical Forecasting Methods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Three tools — increasing sophistication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48640" y="1783080"/>
            <a:ext cx="73152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548640" y="2057400"/>
            <a:ext cx="73152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1417320" y="178308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1645920" y="192024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Naive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645920" y="237744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Predict the LAST value for everything.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1645920" y="274320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Useful only as the bar floor.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548640" y="3200400"/>
            <a:ext cx="731520" cy="151058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548640" y="3474720"/>
            <a:ext cx="73152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1417320" y="320040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1645920" y="333756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Seasonal Naive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1645920" y="379476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Predict the value from ONE SEASON AGO (e.g., same-day-last-week).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1645920" y="416052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▸ Strong baseline when seasonality is stable, no trend.</a:t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548640" y="4617720"/>
            <a:ext cx="731520" cy="15105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548640" y="4892040"/>
            <a:ext cx="73152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1417320" y="461772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1645920" y="475488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Exponential Smoothing (ETS)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645920" y="521208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Adaptive weighted average + trend + seasonality.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1645920" y="557784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▸ The pragmatic baseline every forecaster should know.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Forecast Evaluation Metrics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Three standard ways to score a forecast</a:t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548640" y="1783080"/>
            <a:ext cx="109728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548640" y="2148840"/>
            <a:ext cx="10972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MAE</a:t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1783080" y="1783080"/>
            <a:ext cx="978408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2011680" y="1965960"/>
            <a:ext cx="94183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mean(|y_true − y_pred|)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2011680" y="2468880"/>
            <a:ext cx="94183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Same units as the target. Intuitive.</a:t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548640" y="3200400"/>
            <a:ext cx="1097280" cy="151058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548640" y="3566160"/>
            <a:ext cx="10972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RMSE</a:t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1783080" y="3200400"/>
            <a:ext cx="978408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2011680" y="3383280"/>
            <a:ext cx="94183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sqrt(mean((y_true − y_pred)²))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2011680" y="3886200"/>
            <a:ext cx="94183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Penalises LARGE errors more than small ones.</a:t>
            </a:r>
            <a:endParaRPr/>
          </a:p>
        </p:txBody>
      </p:sp>
      <p:sp>
        <p:nvSpPr>
          <p:cNvPr id="292" name="Google Shape;292;p24"/>
          <p:cNvSpPr/>
          <p:nvPr/>
        </p:nvSpPr>
        <p:spPr>
          <a:xfrm>
            <a:off x="548640" y="4617720"/>
            <a:ext cx="1097280" cy="15105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548640" y="4983480"/>
            <a:ext cx="10972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MAPE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1783080" y="4617720"/>
            <a:ext cx="978408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2011680" y="4800600"/>
            <a:ext cx="94183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mean(|y_true − y_pred| / |y_true|) × 100%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2011680" y="5303520"/>
            <a:ext cx="94183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Percentage. Scale-free. Watch out near zero.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ML-with-Lags — The Modern Default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Time series → tabular regression with lag features</a:t>
            </a: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548640" y="1737360"/>
            <a:ext cx="1106424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822960" y="1874519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The trick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822960" y="2286000"/>
            <a:ext cx="1051560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"For each day, ADD COLUMNS for past values (lag_1, lag_7, lag_365).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Now it's a tabular dataset — train any regression model on it."</a:t>
            </a:r>
            <a:endParaRPr/>
          </a:p>
        </p:txBody>
      </p:sp>
      <p:sp>
        <p:nvSpPr>
          <p:cNvPr id="325" name="Google Shape;325;p26"/>
          <p:cNvSpPr/>
          <p:nvPr/>
        </p:nvSpPr>
        <p:spPr>
          <a:xfrm>
            <a:off x="548640" y="3200400"/>
            <a:ext cx="11064240" cy="280537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777240" y="333756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Example feature table: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822960" y="3749039"/>
            <a:ext cx="12801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date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2194560" y="3749039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3291840" y="3749039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lag_1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4297680" y="3749039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lag_7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5303520" y="3749039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lag_365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6400800" y="3749039"/>
            <a:ext cx="118872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dayofweek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7772400" y="3749039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month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8778240" y="3749039"/>
            <a:ext cx="18288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822960" y="4160520"/>
            <a:ext cx="12801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2024-01-10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2194560" y="4160520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9200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3291840" y="416052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8800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4297680" y="416052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9100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5303520" y="4160520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8500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6400800" y="4160520"/>
            <a:ext cx="118872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7772400" y="416052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822960" y="4526280"/>
            <a:ext cx="12801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2024-01-11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2194560" y="4526280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9400</a:t>
            </a:r>
            <a:endParaRPr/>
          </a:p>
        </p:txBody>
      </p:sp>
      <p:sp>
        <p:nvSpPr>
          <p:cNvPr id="344" name="Google Shape;344;p26"/>
          <p:cNvSpPr txBox="1"/>
          <p:nvPr/>
        </p:nvSpPr>
        <p:spPr>
          <a:xfrm>
            <a:off x="3291840" y="452628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9200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4297680" y="452628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9300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5303520" y="4526280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8600</a:t>
            </a:r>
            <a:endParaRPr/>
          </a:p>
        </p:txBody>
      </p:sp>
      <p:sp>
        <p:nvSpPr>
          <p:cNvPr id="347" name="Google Shape;347;p26"/>
          <p:cNvSpPr txBox="1"/>
          <p:nvPr/>
        </p:nvSpPr>
        <p:spPr>
          <a:xfrm>
            <a:off x="6400800" y="4526280"/>
            <a:ext cx="118872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7772400" y="452628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  <p:sp>
        <p:nvSpPr>
          <p:cNvPr id="349" name="Google Shape;349;p26"/>
          <p:cNvSpPr txBox="1"/>
          <p:nvPr/>
        </p:nvSpPr>
        <p:spPr>
          <a:xfrm>
            <a:off x="822960" y="4892040"/>
            <a:ext cx="12801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2024-01-12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2194560" y="4892040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9700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3291840" y="489204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9400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4297680" y="489204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9500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5303520" y="4892040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8800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6400800" y="4892040"/>
            <a:ext cx="118872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7772400" y="489204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  <p:sp>
        <p:nvSpPr>
          <p:cNvPr id="356" name="Google Shape;356;p26"/>
          <p:cNvSpPr/>
          <p:nvPr/>
        </p:nvSpPr>
        <p:spPr>
          <a:xfrm>
            <a:off x="548640" y="5715000"/>
            <a:ext cx="11064240" cy="75529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7" name="Google Shape;357;p26"/>
          <p:cNvSpPr txBox="1"/>
          <p:nvPr/>
        </p:nvSpPr>
        <p:spPr>
          <a:xfrm>
            <a:off x="822960" y="585216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Each row predicts its target from features that include past values. Standard regression — same gradient boosting from L04.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3" name="Google Shape;433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4" name="Google Shape;434;p31"/>
          <p:cNvSpPr txBox="1"/>
          <p:nvPr/>
        </p:nvSpPr>
        <p:spPr>
          <a:xfrm>
            <a:off x="731520" y="73152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Bridge to Lesson 7</a:t>
            </a:r>
            <a:endParaRPr/>
          </a:p>
        </p:txBody>
      </p:sp>
      <p:sp>
        <p:nvSpPr>
          <p:cNvPr id="435" name="Google Shape;435;p31"/>
          <p:cNvSpPr/>
          <p:nvPr/>
        </p:nvSpPr>
        <p:spPr>
          <a:xfrm>
            <a:off x="914400" y="1645920"/>
            <a:ext cx="10332720" cy="280537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6" name="Google Shape;436;p31"/>
          <p:cNvSpPr txBox="1"/>
          <p:nvPr/>
        </p:nvSpPr>
        <p:spPr>
          <a:xfrm>
            <a:off x="1188720" y="182880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Marcus, after the Friday presentation:</a:t>
            </a:r>
            <a:endParaRPr/>
          </a:p>
        </p:txBody>
      </p:sp>
      <p:sp>
        <p:nvSpPr>
          <p:cNvPr id="437" name="Google Shape;437;p31"/>
          <p:cNvSpPr txBox="1"/>
          <p:nvPr/>
        </p:nvSpPr>
        <p:spPr>
          <a:xfrm>
            <a:off x="1188720" y="2286000"/>
            <a:ext cx="9784080" cy="1834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"Great forecast. Now — if we collected DETAILED CUSTOMER BEHAVIOUR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(every click, every page view, every cart event),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could you predict whether they'd complete checkout WHILE THEY'RE SHOPPING?"</a:t>
            </a:r>
            <a:endParaRPr/>
          </a:p>
        </p:txBody>
      </p:sp>
      <p:sp>
        <p:nvSpPr>
          <p:cNvPr id="438" name="Google Shape;438;p31"/>
          <p:cNvSpPr txBox="1"/>
          <p:nvPr/>
        </p:nvSpPr>
        <p:spPr>
          <a:xfrm>
            <a:off x="914400" y="4297680"/>
            <a:ext cx="103327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Lesson 7 — Neural Networks &amp; Deep Learning</a:t>
            </a:r>
            <a:endParaRPr/>
          </a:p>
        </p:txBody>
      </p:sp>
      <p:sp>
        <p:nvSpPr>
          <p:cNvPr id="439" name="Google Shape;439;p31"/>
          <p:cNvSpPr txBox="1"/>
          <p:nvPr/>
        </p:nvSpPr>
        <p:spPr>
          <a:xfrm>
            <a:off x="914400" y="4800600"/>
            <a:ext cx="103327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Perceptron → MLP · gradient descent · backpropagation · PyTorch</a:t>
            </a:r>
            <a:endParaRPr/>
          </a:p>
        </p:txBody>
      </p:sp>
      <p:sp>
        <p:nvSpPr>
          <p:cNvPr id="440" name="Google Shape;440;p31"/>
          <p:cNvSpPr txBox="1"/>
          <p:nvPr/>
        </p:nvSpPr>
        <p:spPr>
          <a:xfrm>
            <a:off x="914400" y="5349240"/>
            <a:ext cx="103327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End-to-end learning from raw sequences. The path to deep learning.</a:t>
            </a:r>
            <a:endParaRPr/>
          </a:p>
        </p:txBody>
      </p:sp>
      <p:sp>
        <p:nvSpPr>
          <p:cNvPr id="441" name="Google Shape;441;p31"/>
          <p:cNvSpPr txBox="1"/>
          <p:nvPr/>
        </p:nvSpPr>
        <p:spPr>
          <a:xfrm>
            <a:off x="914400" y="5943600"/>
            <a:ext cx="1033272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Before L07 — finish the L06 assignment (electricity demand + coffee shop).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9" name="Google Shape;449;p32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Assignment Preview</a:t>
            </a:r>
            <a:endParaRPr/>
          </a:p>
        </p:txBody>
      </p:sp>
      <p:sp>
        <p:nvSpPr>
          <p:cNvPr id="450" name="Google Shape;450;p32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Two domains · same toolkit</a:t>
            </a:r>
            <a:endParaRPr/>
          </a:p>
        </p:txBody>
      </p:sp>
      <p:sp>
        <p:nvSpPr>
          <p:cNvPr id="451" name="Google Shape;451;p32"/>
          <p:cNvSpPr/>
          <p:nvPr/>
        </p:nvSpPr>
        <p:spPr>
          <a:xfrm>
            <a:off x="548640" y="1783080"/>
            <a:ext cx="5486400" cy="53949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2" name="Google Shape;452;p32"/>
          <p:cNvSpPr txBox="1"/>
          <p:nvPr/>
        </p:nvSpPr>
        <p:spPr>
          <a:xfrm>
            <a:off x="777240" y="1920240"/>
            <a:ext cx="50292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Part A — UK Electricity</a:t>
            </a:r>
            <a:endParaRPr/>
          </a:p>
        </p:txBody>
      </p:sp>
      <p:sp>
        <p:nvSpPr>
          <p:cNvPr id="453" name="Google Shape;453;p32"/>
          <p:cNvSpPr txBox="1"/>
          <p:nvPr/>
        </p:nvSpPr>
        <p:spPr>
          <a:xfrm>
            <a:off x="914400" y="2606040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2 years of daily demand data</a:t>
            </a:r>
            <a:endParaRPr/>
          </a:p>
        </p:txBody>
      </p:sp>
      <p:sp>
        <p:nvSpPr>
          <p:cNvPr id="454" name="Google Shape;454;p32"/>
          <p:cNvSpPr txBox="1"/>
          <p:nvPr/>
        </p:nvSpPr>
        <p:spPr>
          <a:xfrm>
            <a:off x="914400" y="3063240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Strong annual + weekly cycles</a:t>
            </a:r>
            <a:endParaRPr/>
          </a:p>
        </p:txBody>
      </p:sp>
      <p:sp>
        <p:nvSpPr>
          <p:cNvPr id="455" name="Google Shape;455;p32"/>
          <p:cNvSpPr txBox="1"/>
          <p:nvPr/>
        </p:nvSpPr>
        <p:spPr>
          <a:xfrm>
            <a:off x="914400" y="3520440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A1: STL decomposition</a:t>
            </a:r>
            <a:endParaRPr/>
          </a:p>
        </p:txBody>
      </p:sp>
      <p:sp>
        <p:nvSpPr>
          <p:cNvPr id="456" name="Google Shape;456;p32"/>
          <p:cNvSpPr txBox="1"/>
          <p:nvPr/>
        </p:nvSpPr>
        <p:spPr>
          <a:xfrm>
            <a:off x="914400" y="3977639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A2: ETS-weekly baseline</a:t>
            </a:r>
            <a:endParaRPr/>
          </a:p>
        </p:txBody>
      </p:sp>
      <p:sp>
        <p:nvSpPr>
          <p:cNvPr id="457" name="Google Shape;457;p32"/>
          <p:cNvSpPr txBox="1"/>
          <p:nvPr/>
        </p:nvSpPr>
        <p:spPr>
          <a:xfrm>
            <a:off x="914400" y="4434840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A3: ML-with-lags</a:t>
            </a:r>
            <a:endParaRPr/>
          </a:p>
        </p:txBody>
      </p:sp>
      <p:sp>
        <p:nvSpPr>
          <p:cNvPr id="458" name="Google Shape;458;p32"/>
          <p:cNvSpPr txBox="1"/>
          <p:nvPr/>
        </p:nvSpPr>
        <p:spPr>
          <a:xfrm>
            <a:off x="914400" y="4892040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A4: which wins and why</a:t>
            </a:r>
            <a:endParaRPr/>
          </a:p>
        </p:txBody>
      </p:sp>
      <p:sp>
        <p:nvSpPr>
          <p:cNvPr id="459" name="Google Shape;459;p32"/>
          <p:cNvSpPr/>
          <p:nvPr/>
        </p:nvSpPr>
        <p:spPr>
          <a:xfrm>
            <a:off x="6263640" y="1783080"/>
            <a:ext cx="5303520" cy="5394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0" name="Google Shape;460;p32"/>
          <p:cNvSpPr txBox="1"/>
          <p:nvPr/>
        </p:nvSpPr>
        <p:spPr>
          <a:xfrm>
            <a:off x="6537960" y="19202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Part B — Coffee Shop</a:t>
            </a:r>
            <a:endParaRPr/>
          </a:p>
        </p:txBody>
      </p:sp>
      <p:sp>
        <p:nvSpPr>
          <p:cNvPr id="461" name="Google Shape;461;p32"/>
          <p:cNvSpPr txBox="1"/>
          <p:nvPr/>
        </p:nvSpPr>
        <p:spPr>
          <a:xfrm>
            <a:off x="6675120" y="2606040"/>
            <a:ext cx="45720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• 18 months of daily customer count</a:t>
            </a:r>
            <a:endParaRPr/>
          </a:p>
        </p:txBody>
      </p:sp>
      <p:sp>
        <p:nvSpPr>
          <p:cNvPr id="462" name="Google Shape;462;p32"/>
          <p:cNvSpPr txBox="1"/>
          <p:nvPr/>
        </p:nvSpPr>
        <p:spPr>
          <a:xfrm>
            <a:off x="6675120" y="3063240"/>
            <a:ext cx="45720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• Weekly seasonality only</a:t>
            </a:r>
            <a:endParaRPr/>
          </a:p>
        </p:txBody>
      </p:sp>
      <p:sp>
        <p:nvSpPr>
          <p:cNvPr id="463" name="Google Shape;463;p32"/>
          <p:cNvSpPr txBox="1"/>
          <p:nvPr/>
        </p:nvSpPr>
        <p:spPr>
          <a:xfrm>
            <a:off x="6675120" y="3520440"/>
            <a:ext cx="45720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• B1: Seasonal Naive baseline</a:t>
            </a:r>
            <a:endParaRPr/>
          </a:p>
        </p:txBody>
      </p:sp>
      <p:sp>
        <p:nvSpPr>
          <p:cNvPr id="464" name="Google Shape;464;p32"/>
          <p:cNvSpPr txBox="1"/>
          <p:nvPr/>
        </p:nvSpPr>
        <p:spPr>
          <a:xfrm>
            <a:off x="6675120" y="3977639"/>
            <a:ext cx="45720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• B2: pick any method to beat B1 by 5%</a:t>
            </a:r>
            <a:endParaRPr/>
          </a:p>
        </p:txBody>
      </p:sp>
      <p:sp>
        <p:nvSpPr>
          <p:cNvPr id="465" name="Google Shape;465;p32"/>
          <p:cNvSpPr txBox="1"/>
          <p:nvPr/>
        </p:nvSpPr>
        <p:spPr>
          <a:xfrm>
            <a:off x="6675120" y="4434840"/>
            <a:ext cx="45720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6" name="Google Shape;466;p32"/>
          <p:cNvSpPr txBox="1"/>
          <p:nvPr/>
        </p:nvSpPr>
        <p:spPr>
          <a:xfrm>
            <a:off x="6675120" y="4892040"/>
            <a:ext cx="45720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• Smaller data, noisier signal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7" name="Google Shape;497;p3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34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Three Things to Remember</a:t>
            </a:r>
            <a:endParaRPr/>
          </a:p>
        </p:txBody>
      </p:sp>
      <p:sp>
        <p:nvSpPr>
          <p:cNvPr id="499" name="Google Shape;499;p34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practical wisdom beyond the algorithms</a:t>
            </a:r>
            <a:endParaRPr/>
          </a:p>
        </p:txBody>
      </p:sp>
      <p:sp>
        <p:nvSpPr>
          <p:cNvPr id="500" name="Google Shape;500;p34"/>
          <p:cNvSpPr/>
          <p:nvPr/>
        </p:nvSpPr>
        <p:spPr>
          <a:xfrm>
            <a:off x="548640" y="1783080"/>
            <a:ext cx="731520" cy="156453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1" name="Google Shape;501;p34"/>
          <p:cNvSpPr txBox="1"/>
          <p:nvPr/>
        </p:nvSpPr>
        <p:spPr>
          <a:xfrm>
            <a:off x="548640" y="201168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502" name="Google Shape;502;p34"/>
          <p:cNvSpPr/>
          <p:nvPr/>
        </p:nvSpPr>
        <p:spPr>
          <a:xfrm>
            <a:off x="1417320" y="178308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3" name="Google Shape;503;p34"/>
          <p:cNvSpPr txBox="1"/>
          <p:nvPr/>
        </p:nvSpPr>
        <p:spPr>
          <a:xfrm>
            <a:off x="1645920" y="196596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Time-series cross-validation is non-negotiable</a:t>
            </a:r>
            <a:endParaRPr/>
          </a:p>
        </p:txBody>
      </p:sp>
      <p:sp>
        <p:nvSpPr>
          <p:cNvPr id="504" name="Google Shape;504;p34"/>
          <p:cNvSpPr txBox="1"/>
          <p:nvPr/>
        </p:nvSpPr>
        <p:spPr>
          <a:xfrm>
            <a:off x="1645920" y="242316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Always use TimeSeriesSplit, never KFold. The future hasn't happened — training on it is leakage.</a:t>
            </a:r>
            <a:endParaRPr/>
          </a:p>
        </p:txBody>
      </p:sp>
      <p:sp>
        <p:nvSpPr>
          <p:cNvPr id="505" name="Google Shape;505;p34"/>
          <p:cNvSpPr/>
          <p:nvPr/>
        </p:nvSpPr>
        <p:spPr>
          <a:xfrm>
            <a:off x="548640" y="3246120"/>
            <a:ext cx="731520" cy="156453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6" name="Google Shape;506;p34"/>
          <p:cNvSpPr txBox="1"/>
          <p:nvPr/>
        </p:nvSpPr>
        <p:spPr>
          <a:xfrm>
            <a:off x="548640" y="347472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507" name="Google Shape;507;p34"/>
          <p:cNvSpPr/>
          <p:nvPr/>
        </p:nvSpPr>
        <p:spPr>
          <a:xfrm>
            <a:off x="1417320" y="324612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8" name="Google Shape;508;p34"/>
          <p:cNvSpPr txBox="1"/>
          <p:nvPr/>
        </p:nvSpPr>
        <p:spPr>
          <a:xfrm>
            <a:off x="1645920" y="342900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Lag features turn time series into tabular regression</a:t>
            </a:r>
            <a:endParaRPr/>
          </a:p>
        </p:txBody>
      </p:sp>
      <p:sp>
        <p:nvSpPr>
          <p:cNvPr id="509" name="Google Shape;509;p34"/>
          <p:cNvSpPr txBox="1"/>
          <p:nvPr/>
        </p:nvSpPr>
        <p:spPr>
          <a:xfrm>
            <a:off x="1645920" y="388620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Add lag_1, lag_7, lag_365, calendar columns. Train ANY regression model. Handles multi-seasonal data.</a:t>
            </a:r>
            <a:endParaRPr/>
          </a:p>
        </p:txBody>
      </p:sp>
      <p:sp>
        <p:nvSpPr>
          <p:cNvPr id="510" name="Google Shape;510;p34"/>
          <p:cNvSpPr/>
          <p:nvPr/>
        </p:nvSpPr>
        <p:spPr>
          <a:xfrm>
            <a:off x="548640" y="4709160"/>
            <a:ext cx="731520" cy="15645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1" name="Google Shape;511;p34"/>
          <p:cNvSpPr txBox="1"/>
          <p:nvPr/>
        </p:nvSpPr>
        <p:spPr>
          <a:xfrm>
            <a:off x="548640" y="493776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512" name="Google Shape;512;p34"/>
          <p:cNvSpPr/>
          <p:nvPr/>
        </p:nvSpPr>
        <p:spPr>
          <a:xfrm>
            <a:off x="1417320" y="470916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3" name="Google Shape;513;p34"/>
          <p:cNvSpPr txBox="1"/>
          <p:nvPr/>
        </p:nvSpPr>
        <p:spPr>
          <a:xfrm>
            <a:off x="1645920" y="489204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Evaluate on cross-validated windows, not a single split</a:t>
            </a:r>
            <a:endParaRPr/>
          </a:p>
        </p:txBody>
      </p:sp>
      <p:sp>
        <p:nvSpPr>
          <p:cNvPr id="514" name="Google Shape;514;p34"/>
          <p:cNvSpPr txBox="1"/>
          <p:nvPr/>
        </p:nvSpPr>
        <p:spPr>
          <a:xfrm>
            <a:off x="1645920" y="534924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 single window can give misleading results (e.g., the holiday window). Average across windows.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1" name="Google Shape;521;p3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2" name="Google Shape;522;p35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Method Comparison</a:t>
            </a:r>
            <a:endParaRPr/>
          </a:p>
        </p:txBody>
      </p:sp>
      <p:sp>
        <p:nvSpPr>
          <p:cNvPr id="523" name="Google Shape;523;p35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When to use which forecasting tool</a:t>
            </a:r>
            <a:endParaRPr/>
          </a:p>
        </p:txBody>
      </p:sp>
      <p:sp>
        <p:nvSpPr>
          <p:cNvPr id="524" name="Google Shape;524;p35"/>
          <p:cNvSpPr/>
          <p:nvPr/>
        </p:nvSpPr>
        <p:spPr>
          <a:xfrm>
            <a:off x="548640" y="1783080"/>
            <a:ext cx="11064240" cy="53949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5" name="Google Shape;525;p35"/>
          <p:cNvSpPr txBox="1"/>
          <p:nvPr/>
        </p:nvSpPr>
        <p:spPr>
          <a:xfrm>
            <a:off x="822960" y="1874519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Method</a:t>
            </a:r>
            <a:endParaRPr/>
          </a:p>
        </p:txBody>
      </p:sp>
      <p:sp>
        <p:nvSpPr>
          <p:cNvPr id="526" name="Google Shape;526;p35"/>
          <p:cNvSpPr txBox="1"/>
          <p:nvPr/>
        </p:nvSpPr>
        <p:spPr>
          <a:xfrm>
            <a:off x="3200400" y="1874519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Best for</a:t>
            </a:r>
            <a:endParaRPr/>
          </a:p>
        </p:txBody>
      </p:sp>
      <p:sp>
        <p:nvSpPr>
          <p:cNvPr id="527" name="Google Shape;527;p35"/>
          <p:cNvSpPr txBox="1"/>
          <p:nvPr/>
        </p:nvSpPr>
        <p:spPr>
          <a:xfrm>
            <a:off x="6400800" y="1874519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Pros</a:t>
            </a:r>
            <a:endParaRPr/>
          </a:p>
        </p:txBody>
      </p:sp>
      <p:sp>
        <p:nvSpPr>
          <p:cNvPr id="528" name="Google Shape;528;p35"/>
          <p:cNvSpPr txBox="1"/>
          <p:nvPr/>
        </p:nvSpPr>
        <p:spPr>
          <a:xfrm>
            <a:off x="9144000" y="1874519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</a:t>
            </a:r>
            <a:endParaRPr/>
          </a:p>
        </p:txBody>
      </p:sp>
      <p:sp>
        <p:nvSpPr>
          <p:cNvPr id="529" name="Google Shape;529;p35"/>
          <p:cNvSpPr/>
          <p:nvPr/>
        </p:nvSpPr>
        <p:spPr>
          <a:xfrm>
            <a:off x="548640" y="2331720"/>
            <a:ext cx="1106424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0" name="Google Shape;530;p35"/>
          <p:cNvSpPr txBox="1"/>
          <p:nvPr/>
        </p:nvSpPr>
        <p:spPr>
          <a:xfrm>
            <a:off x="822960" y="2441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Naive</a:t>
            </a:r>
            <a:endParaRPr/>
          </a:p>
        </p:txBody>
      </p:sp>
      <p:sp>
        <p:nvSpPr>
          <p:cNvPr id="531" name="Google Shape;531;p35"/>
          <p:cNvSpPr txBox="1"/>
          <p:nvPr/>
        </p:nvSpPr>
        <p:spPr>
          <a:xfrm>
            <a:off x="3200400" y="2441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Bar floor; sanity check</a:t>
            </a:r>
            <a:endParaRPr/>
          </a:p>
        </p:txBody>
      </p:sp>
      <p:sp>
        <p:nvSpPr>
          <p:cNvPr id="532" name="Google Shape;532;p35"/>
          <p:cNvSpPr txBox="1"/>
          <p:nvPr/>
        </p:nvSpPr>
        <p:spPr>
          <a:xfrm>
            <a:off x="6400800" y="2441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Trivially simple</a:t>
            </a:r>
            <a:endParaRPr/>
          </a:p>
        </p:txBody>
      </p:sp>
      <p:sp>
        <p:nvSpPr>
          <p:cNvPr id="533" name="Google Shape;533;p35"/>
          <p:cNvSpPr txBox="1"/>
          <p:nvPr/>
        </p:nvSpPr>
        <p:spPr>
          <a:xfrm>
            <a:off x="9144000" y="2441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Almost always beaten</a:t>
            </a:r>
            <a:endParaRPr/>
          </a:p>
        </p:txBody>
      </p:sp>
      <p:sp>
        <p:nvSpPr>
          <p:cNvPr id="534" name="Google Shape;534;p35"/>
          <p:cNvSpPr/>
          <p:nvPr/>
        </p:nvSpPr>
        <p:spPr>
          <a:xfrm>
            <a:off x="548640" y="2788920"/>
            <a:ext cx="11064240" cy="485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5" name="Google Shape;535;p35"/>
          <p:cNvSpPr txBox="1"/>
          <p:nvPr/>
        </p:nvSpPr>
        <p:spPr>
          <a:xfrm>
            <a:off x="822960" y="2898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Seasonal Naive</a:t>
            </a:r>
            <a:endParaRPr/>
          </a:p>
        </p:txBody>
      </p:sp>
      <p:sp>
        <p:nvSpPr>
          <p:cNvPr id="536" name="Google Shape;536;p35"/>
          <p:cNvSpPr txBox="1"/>
          <p:nvPr/>
        </p:nvSpPr>
        <p:spPr>
          <a:xfrm>
            <a:off x="3200400" y="2898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Stable seasonal data</a:t>
            </a:r>
            <a:endParaRPr/>
          </a:p>
        </p:txBody>
      </p:sp>
      <p:sp>
        <p:nvSpPr>
          <p:cNvPr id="537" name="Google Shape;537;p35"/>
          <p:cNvSpPr txBox="1"/>
          <p:nvPr/>
        </p:nvSpPr>
        <p:spPr>
          <a:xfrm>
            <a:off x="6400800" y="2898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Captures seasonality</a:t>
            </a:r>
            <a:endParaRPr/>
          </a:p>
        </p:txBody>
      </p:sp>
      <p:sp>
        <p:nvSpPr>
          <p:cNvPr id="538" name="Google Shape;538;p35"/>
          <p:cNvSpPr txBox="1"/>
          <p:nvPr/>
        </p:nvSpPr>
        <p:spPr>
          <a:xfrm>
            <a:off x="9144000" y="2898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Misses trend; misses regime change</a:t>
            </a:r>
            <a:endParaRPr/>
          </a:p>
        </p:txBody>
      </p:sp>
      <p:sp>
        <p:nvSpPr>
          <p:cNvPr id="539" name="Google Shape;539;p35"/>
          <p:cNvSpPr/>
          <p:nvPr/>
        </p:nvSpPr>
        <p:spPr>
          <a:xfrm>
            <a:off x="548640" y="3246120"/>
            <a:ext cx="1106424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0" name="Google Shape;540;p35"/>
          <p:cNvSpPr txBox="1"/>
          <p:nvPr/>
        </p:nvSpPr>
        <p:spPr>
          <a:xfrm>
            <a:off x="822960" y="33558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ETS</a:t>
            </a:r>
            <a:endParaRPr/>
          </a:p>
        </p:txBody>
      </p:sp>
      <p:sp>
        <p:nvSpPr>
          <p:cNvPr id="541" name="Google Shape;541;p35"/>
          <p:cNvSpPr txBox="1"/>
          <p:nvPr/>
        </p:nvSpPr>
        <p:spPr>
          <a:xfrm>
            <a:off x="3200400" y="33558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One seasonality + trend</a:t>
            </a:r>
            <a:endParaRPr/>
          </a:p>
        </p:txBody>
      </p:sp>
      <p:sp>
        <p:nvSpPr>
          <p:cNvPr id="542" name="Google Shape;542;p35"/>
          <p:cNvSpPr txBox="1"/>
          <p:nvPr/>
        </p:nvSpPr>
        <p:spPr>
          <a:xfrm>
            <a:off x="6400800" y="33558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Adaptive; well-tested</a:t>
            </a:r>
            <a:endParaRPr/>
          </a:p>
        </p:txBody>
      </p:sp>
      <p:sp>
        <p:nvSpPr>
          <p:cNvPr id="543" name="Google Shape;543;p35"/>
          <p:cNvSpPr txBox="1"/>
          <p:nvPr/>
        </p:nvSpPr>
        <p:spPr>
          <a:xfrm>
            <a:off x="9144000" y="33558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Single-seasonality only</a:t>
            </a:r>
            <a:endParaRPr/>
          </a:p>
        </p:txBody>
      </p:sp>
      <p:sp>
        <p:nvSpPr>
          <p:cNvPr id="544" name="Google Shape;544;p35"/>
          <p:cNvSpPr/>
          <p:nvPr/>
        </p:nvSpPr>
        <p:spPr>
          <a:xfrm>
            <a:off x="548640" y="3703320"/>
            <a:ext cx="11064240" cy="485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5" name="Google Shape;545;p35"/>
          <p:cNvSpPr txBox="1"/>
          <p:nvPr/>
        </p:nvSpPr>
        <p:spPr>
          <a:xfrm>
            <a:off x="822960" y="38130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ARIMA (Ext)</a:t>
            </a:r>
            <a:endParaRPr/>
          </a:p>
        </p:txBody>
      </p:sp>
      <p:sp>
        <p:nvSpPr>
          <p:cNvPr id="546" name="Google Shape;546;p35"/>
          <p:cNvSpPr txBox="1"/>
          <p:nvPr/>
        </p:nvSpPr>
        <p:spPr>
          <a:xfrm>
            <a:off x="3200400" y="38130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Stationary or differenced data</a:t>
            </a:r>
            <a:endParaRPr/>
          </a:p>
        </p:txBody>
      </p:sp>
      <p:sp>
        <p:nvSpPr>
          <p:cNvPr id="547" name="Google Shape;547;p35"/>
          <p:cNvSpPr txBox="1"/>
          <p:nvPr/>
        </p:nvSpPr>
        <p:spPr>
          <a:xfrm>
            <a:off x="6400800" y="38130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Theoretical foundation</a:t>
            </a:r>
            <a:endParaRPr/>
          </a:p>
        </p:txBody>
      </p:sp>
      <p:sp>
        <p:nvSpPr>
          <p:cNvPr id="548" name="Google Shape;548;p35"/>
          <p:cNvSpPr txBox="1"/>
          <p:nvPr/>
        </p:nvSpPr>
        <p:spPr>
          <a:xfrm>
            <a:off x="9144000" y="38130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Needs tuning; AutoARIMA helps</a:t>
            </a:r>
            <a:endParaRPr/>
          </a:p>
        </p:txBody>
      </p:sp>
      <p:sp>
        <p:nvSpPr>
          <p:cNvPr id="549" name="Google Shape;549;p35"/>
          <p:cNvSpPr/>
          <p:nvPr/>
        </p:nvSpPr>
        <p:spPr>
          <a:xfrm>
            <a:off x="548640" y="4160520"/>
            <a:ext cx="1106424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35"/>
          <p:cNvSpPr txBox="1"/>
          <p:nvPr/>
        </p:nvSpPr>
        <p:spPr>
          <a:xfrm>
            <a:off x="822960" y="42702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SARIMA (Ext)</a:t>
            </a:r>
            <a:endParaRPr/>
          </a:p>
        </p:txBody>
      </p:sp>
      <p:sp>
        <p:nvSpPr>
          <p:cNvPr id="551" name="Google Shape;551;p35"/>
          <p:cNvSpPr txBox="1"/>
          <p:nvPr/>
        </p:nvSpPr>
        <p:spPr>
          <a:xfrm>
            <a:off x="3200400" y="42702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Seasonal ARIMA</a:t>
            </a:r>
            <a:endParaRPr/>
          </a:p>
        </p:txBody>
      </p:sp>
      <p:sp>
        <p:nvSpPr>
          <p:cNvPr id="552" name="Google Shape;552;p35"/>
          <p:cNvSpPr txBox="1"/>
          <p:nvPr/>
        </p:nvSpPr>
        <p:spPr>
          <a:xfrm>
            <a:off x="6400800" y="42702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Bayesian, principled</a:t>
            </a:r>
            <a:endParaRPr/>
          </a:p>
        </p:txBody>
      </p:sp>
      <p:sp>
        <p:nvSpPr>
          <p:cNvPr id="553" name="Google Shape;553;p35"/>
          <p:cNvSpPr txBox="1"/>
          <p:nvPr/>
        </p:nvSpPr>
        <p:spPr>
          <a:xfrm>
            <a:off x="9144000" y="42702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Same single-seasonality limit</a:t>
            </a:r>
            <a:endParaRPr/>
          </a:p>
        </p:txBody>
      </p:sp>
      <p:sp>
        <p:nvSpPr>
          <p:cNvPr id="554" name="Google Shape;554;p35"/>
          <p:cNvSpPr/>
          <p:nvPr/>
        </p:nvSpPr>
        <p:spPr>
          <a:xfrm>
            <a:off x="548640" y="4617720"/>
            <a:ext cx="11064240" cy="485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5" name="Google Shape;555;p35"/>
          <p:cNvSpPr txBox="1"/>
          <p:nvPr/>
        </p:nvSpPr>
        <p:spPr>
          <a:xfrm>
            <a:off x="822960" y="4727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ML-with-lags</a:t>
            </a:r>
            <a:endParaRPr/>
          </a:p>
        </p:txBody>
      </p:sp>
      <p:sp>
        <p:nvSpPr>
          <p:cNvPr id="556" name="Google Shape;556;p35"/>
          <p:cNvSpPr txBox="1"/>
          <p:nvPr/>
        </p:nvSpPr>
        <p:spPr>
          <a:xfrm>
            <a:off x="3200400" y="4727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Multi-seasonal data</a:t>
            </a:r>
            <a:endParaRPr/>
          </a:p>
        </p:txBody>
      </p:sp>
      <p:sp>
        <p:nvSpPr>
          <p:cNvPr id="557" name="Google Shape;557;p35"/>
          <p:cNvSpPr txBox="1"/>
          <p:nvPr/>
        </p:nvSpPr>
        <p:spPr>
          <a:xfrm>
            <a:off x="6400800" y="4727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Same toolkit as L04</a:t>
            </a:r>
            <a:endParaRPr/>
          </a:p>
        </p:txBody>
      </p:sp>
      <p:sp>
        <p:nvSpPr>
          <p:cNvPr id="558" name="Google Shape;558;p35"/>
          <p:cNvSpPr txBox="1"/>
          <p:nvPr/>
        </p:nvSpPr>
        <p:spPr>
          <a:xfrm>
            <a:off x="9144000" y="4727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Recursive forecast errors compound</a:t>
            </a:r>
            <a:endParaRPr/>
          </a:p>
        </p:txBody>
      </p:sp>
      <p:sp>
        <p:nvSpPr>
          <p:cNvPr id="559" name="Google Shape;559;p35"/>
          <p:cNvSpPr/>
          <p:nvPr/>
        </p:nvSpPr>
        <p:spPr>
          <a:xfrm>
            <a:off x="548640" y="5074920"/>
            <a:ext cx="1106424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0" name="Google Shape;560;p35"/>
          <p:cNvSpPr txBox="1"/>
          <p:nvPr/>
        </p:nvSpPr>
        <p:spPr>
          <a:xfrm>
            <a:off x="822960" y="5184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Prophet (Ext)</a:t>
            </a:r>
            <a:endParaRPr/>
          </a:p>
        </p:txBody>
      </p:sp>
      <p:sp>
        <p:nvSpPr>
          <p:cNvPr id="561" name="Google Shape;561;p35"/>
          <p:cNvSpPr txBox="1"/>
          <p:nvPr/>
        </p:nvSpPr>
        <p:spPr>
          <a:xfrm>
            <a:off x="3200400" y="5184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Multi-seasonal + holidays</a:t>
            </a:r>
            <a:endParaRPr/>
          </a:p>
        </p:txBody>
      </p:sp>
      <p:sp>
        <p:nvSpPr>
          <p:cNvPr id="562" name="Google Shape;562;p35"/>
          <p:cNvSpPr txBox="1"/>
          <p:nvPr/>
        </p:nvSpPr>
        <p:spPr>
          <a:xfrm>
            <a:off x="6400800" y="5184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Easy API</a:t>
            </a:r>
            <a:endParaRPr/>
          </a:p>
        </p:txBody>
      </p:sp>
      <p:sp>
        <p:nvSpPr>
          <p:cNvPr id="563" name="Google Shape;563;p35"/>
          <p:cNvSpPr txBox="1"/>
          <p:nvPr/>
        </p:nvSpPr>
        <p:spPr>
          <a:xfrm>
            <a:off x="9144000" y="5184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Heavier dependency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5" name="Google Shape;755;p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6" name="Google Shape;756;p42"/>
          <p:cNvSpPr txBox="1"/>
          <p:nvPr/>
        </p:nvSpPr>
        <p:spPr>
          <a:xfrm>
            <a:off x="731520" y="2011680"/>
            <a:ext cx="1069848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See You in L07</a:t>
            </a:r>
            <a:endParaRPr/>
          </a:p>
        </p:txBody>
      </p:sp>
      <p:sp>
        <p:nvSpPr>
          <p:cNvPr id="757" name="Google Shape;757;p42"/>
          <p:cNvSpPr txBox="1"/>
          <p:nvPr/>
        </p:nvSpPr>
        <p:spPr>
          <a:xfrm>
            <a:off x="731520" y="329184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Neural Networks &amp; Deep Learning — Perceptron → MLP → PyTorch</a:t>
            </a:r>
            <a:endParaRPr/>
          </a:p>
        </p:txBody>
      </p:sp>
      <p:sp>
        <p:nvSpPr>
          <p:cNvPr id="758" name="Google Shape;758;p42"/>
          <p:cNvSpPr txBox="1"/>
          <p:nvPr/>
        </p:nvSpPr>
        <p:spPr>
          <a:xfrm>
            <a:off x="731520" y="411480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Before then: finish the L06 assignment (electricity demand + coffee shop)</a:t>
            </a:r>
            <a:endParaRPr/>
          </a:p>
        </p:txBody>
      </p:sp>
      <p:sp>
        <p:nvSpPr>
          <p:cNvPr id="759" name="Google Shape;759;p42"/>
          <p:cNvSpPr txBox="1"/>
          <p:nvPr/>
        </p:nvSpPr>
        <p:spPr>
          <a:xfrm>
            <a:off x="731520" y="493776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Or dig deeper with ARIMA / SARIMA / Prophet in optional_extensions.ipynb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TU SCTP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